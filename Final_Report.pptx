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B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609605" y="1887685"/>
            <a:ext cx="10972800" cy="16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900" u="none" cap="none" strike="noStrike">
                <a:solidFill>
                  <a:srgbClr val="1C2331"/>
                </a:solidFill>
                <a:latin typeface="Calibri"/>
                <a:ea typeface="Calibri"/>
                <a:cs typeface="Calibri"/>
                <a:sym typeface="Calibri"/>
              </a:rPr>
              <a:t>Real-Time HDMI Threshold and Motion </a:t>
            </a:r>
            <a:r>
              <a:rPr b="1" lang="en-US" sz="4900">
                <a:solidFill>
                  <a:srgbClr val="1C2331"/>
                </a:solidFill>
                <a:latin typeface="Calibri"/>
                <a:ea typeface="Calibri"/>
                <a:cs typeface="Calibri"/>
                <a:sym typeface="Calibri"/>
              </a:rPr>
              <a:t>Detection </a:t>
            </a:r>
            <a:r>
              <a:rPr b="1" i="0" lang="en-US" sz="4900" u="none" cap="none" strike="noStrike">
                <a:solidFill>
                  <a:srgbClr val="1C2331"/>
                </a:solidFill>
                <a:latin typeface="Calibri"/>
                <a:ea typeface="Calibri"/>
                <a:cs typeface="Calibri"/>
                <a:sym typeface="Calibri"/>
              </a:rPr>
              <a:t>IP on PYNQ-Z2</a:t>
            </a:r>
            <a:endParaRPr sz="3300"/>
          </a:p>
        </p:txBody>
      </p:sp>
      <p:sp>
        <p:nvSpPr>
          <p:cNvPr id="85" name="Google Shape;85;p13"/>
          <p:cNvSpPr txBox="1"/>
          <p:nvPr/>
        </p:nvSpPr>
        <p:spPr>
          <a:xfrm>
            <a:off x="251349" y="6389499"/>
            <a:ext cx="4174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5A6373"/>
                </a:solidFill>
                <a:latin typeface="Calibri"/>
                <a:ea typeface="Calibri"/>
                <a:cs typeface="Calibri"/>
                <a:sym typeface="Calibri"/>
              </a:rPr>
              <a:t>Sora Kakigi • Thinh Nguyen • Yi Chieh Huang • Justin Lu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991625" y="3766150"/>
            <a:ext cx="113256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1C2331"/>
                </a:solidFill>
                <a:latin typeface="Calibri"/>
                <a:ea typeface="Calibri"/>
                <a:cs typeface="Calibri"/>
                <a:sym typeface="Calibri"/>
              </a:rPr>
              <a:t>HDMI In --&gt; </a:t>
            </a:r>
            <a:r>
              <a:rPr lang="en-US" sz="1800">
                <a:solidFill>
                  <a:srgbClr val="1C233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1800">
                <a:solidFill>
                  <a:srgbClr val="1C2331"/>
                </a:solidFill>
                <a:latin typeface="Calibri"/>
                <a:ea typeface="Calibri"/>
                <a:cs typeface="Calibri"/>
                <a:sym typeface="Calibri"/>
              </a:rPr>
              <a:t>Custom HLS IP</a:t>
            </a:r>
            <a:r>
              <a:rPr lang="en-US" sz="1800">
                <a:solidFill>
                  <a:srgbClr val="1C2331"/>
                </a:solidFill>
                <a:latin typeface="Calibri"/>
                <a:ea typeface="Calibri"/>
                <a:cs typeface="Calibri"/>
                <a:sym typeface="Calibri"/>
              </a:rPr>
              <a:t> --&gt;  </a:t>
            </a:r>
            <a:r>
              <a:rPr b="0" lang="en-US" sz="1800">
                <a:solidFill>
                  <a:srgbClr val="1C2331"/>
                </a:solidFill>
                <a:latin typeface="Calibri"/>
                <a:ea typeface="Calibri"/>
                <a:cs typeface="Calibri"/>
                <a:sym typeface="Calibri"/>
              </a:rPr>
              <a:t>Threshold HDMI Out</a:t>
            </a:r>
            <a:r>
              <a:rPr lang="en-US" sz="1800">
                <a:solidFill>
                  <a:srgbClr val="1C2331"/>
                </a:solidFill>
                <a:latin typeface="Calibri"/>
                <a:ea typeface="Calibri"/>
                <a:cs typeface="Calibri"/>
                <a:sym typeface="Calibri"/>
              </a:rPr>
              <a:t> --&gt;  </a:t>
            </a:r>
            <a:r>
              <a:rPr b="0" lang="en-US" sz="1800">
                <a:solidFill>
                  <a:srgbClr val="1C2331"/>
                </a:solidFill>
                <a:latin typeface="Calibri"/>
                <a:ea typeface="Calibri"/>
                <a:cs typeface="Calibri"/>
                <a:sym typeface="Calibri"/>
              </a:rPr>
              <a:t>Motion summary</a:t>
            </a:r>
            <a:r>
              <a:rPr lang="en-US" sz="1800">
                <a:solidFill>
                  <a:srgbClr val="1C2331"/>
                </a:solidFill>
                <a:latin typeface="Calibri"/>
                <a:ea typeface="Calibri"/>
                <a:cs typeface="Calibri"/>
                <a:sym typeface="Calibri"/>
              </a:rPr>
              <a:t> --&gt;  </a:t>
            </a:r>
            <a:r>
              <a:rPr b="0" lang="en-US" sz="1800">
                <a:solidFill>
                  <a:srgbClr val="1C2331"/>
                </a:solidFill>
                <a:latin typeface="Calibri"/>
                <a:ea typeface="Calibri"/>
                <a:cs typeface="Calibri"/>
                <a:sym typeface="Calibri"/>
              </a:rPr>
              <a:t>GPIO </a:t>
            </a:r>
            <a:endParaRPr b="0" sz="1800">
              <a:solidFill>
                <a:srgbClr val="1C233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457200" lvl="0" marL="685800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>
              <a:solidFill>
                <a:schemeClr val="dk1"/>
              </a:solidFill>
            </a:endParaRPr>
          </a:p>
          <a:p>
            <a:pPr indent="457200" lvl="0" marL="7315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C2331"/>
                </a:solidFill>
                <a:latin typeface="Calibri"/>
                <a:ea typeface="Calibri"/>
                <a:cs typeface="Calibri"/>
                <a:sym typeface="Calibri"/>
              </a:rPr>
              <a:t>                         </a:t>
            </a:r>
            <a:r>
              <a:rPr b="0" lang="en-US" sz="1800">
                <a:solidFill>
                  <a:srgbClr val="1C2331"/>
                </a:solidFill>
                <a:latin typeface="Calibri"/>
                <a:ea typeface="Calibri"/>
                <a:cs typeface="Calibri"/>
                <a:sym typeface="Calibri"/>
              </a:rPr>
              <a:t> PS</a:t>
            </a:r>
            <a:endParaRPr b="0" sz="1800">
              <a:solidFill>
                <a:srgbClr val="1C233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731520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>
              <a:solidFill>
                <a:schemeClr val="dk1"/>
              </a:solidFill>
            </a:endParaRPr>
          </a:p>
          <a:p>
            <a:pPr indent="0" lvl="0" marL="731520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1C2331"/>
                </a:solidFill>
                <a:latin typeface="Calibri"/>
                <a:ea typeface="Calibri"/>
                <a:cs typeface="Calibri"/>
                <a:sym typeface="Calibri"/>
              </a:rPr>
              <a:t> UART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B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C2331"/>
                </a:solidFill>
                <a:latin typeface="Calibri"/>
                <a:ea typeface="Calibri"/>
                <a:cs typeface="Calibri"/>
                <a:sym typeface="Calibri"/>
              </a:rPr>
              <a:t>Why this project?</a:t>
            </a:r>
            <a:endParaRPr/>
          </a:p>
        </p:txBody>
      </p:sp>
      <p:sp>
        <p:nvSpPr>
          <p:cNvPr id="92" name="Google Shape;92;p14"/>
          <p:cNvSpPr txBox="1"/>
          <p:nvPr/>
        </p:nvSpPr>
        <p:spPr>
          <a:xfrm>
            <a:off x="566928" y="932688"/>
            <a:ext cx="10789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5A6373"/>
                </a:solidFill>
                <a:latin typeface="Calibri"/>
                <a:ea typeface="Calibri"/>
                <a:cs typeface="Calibri"/>
                <a:sym typeface="Calibri"/>
              </a:rPr>
              <a:t>Real-time FPGA video processing is a strong fit for HLS and a clear live demo.</a:t>
            </a:r>
            <a:endParaRPr/>
          </a:p>
        </p:txBody>
      </p:sp>
      <p:sp>
        <p:nvSpPr>
          <p:cNvPr id="93" name="Google Shape;93;p14"/>
          <p:cNvSpPr txBox="1"/>
          <p:nvPr/>
        </p:nvSpPr>
        <p:spPr>
          <a:xfrm>
            <a:off x="822960" y="1554480"/>
            <a:ext cx="64008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1C2331"/>
                </a:solidFill>
                <a:latin typeface="Calibri"/>
                <a:ea typeface="Calibri"/>
                <a:cs typeface="Calibri"/>
                <a:sym typeface="Calibri"/>
              </a:rPr>
              <a:t>HDMI live streaming provides an immediate, visual hardware demo.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1C2331"/>
                </a:solidFill>
                <a:latin typeface="Calibri"/>
                <a:ea typeface="Calibri"/>
                <a:cs typeface="Calibri"/>
                <a:sym typeface="Calibri"/>
              </a:rPr>
              <a:t>Motion detection is intuitive: compare the current frame with previous-frame state.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1C2331"/>
                </a:solidFill>
                <a:latin typeface="Calibri"/>
                <a:ea typeface="Calibri"/>
                <a:cs typeface="Calibri"/>
                <a:sym typeface="Calibri"/>
              </a:rPr>
              <a:t>FPGA acceleration is attractive because the work repeats for every pixel.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1C2331"/>
                </a:solidFill>
                <a:latin typeface="Calibri"/>
                <a:ea typeface="Calibri"/>
                <a:cs typeface="Calibri"/>
                <a:sym typeface="Calibri"/>
              </a:rPr>
              <a:t>PYNQ-Z2 gives a practical platform for end-to-end HLS → Vivado → board integration.</a:t>
            </a:r>
            <a:endParaRPr/>
          </a:p>
        </p:txBody>
      </p:sp>
      <p:sp>
        <p:nvSpPr>
          <p:cNvPr id="94" name="Google Shape;94;p14"/>
          <p:cNvSpPr/>
          <p:nvPr/>
        </p:nvSpPr>
        <p:spPr>
          <a:xfrm>
            <a:off x="7726679" y="1600200"/>
            <a:ext cx="3794760" cy="35661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6EA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8046720" y="1965960"/>
            <a:ext cx="310896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  <a:t>Goal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1C2331"/>
                </a:solidFill>
                <a:latin typeface="Calibri"/>
                <a:ea typeface="Calibri"/>
                <a:cs typeface="Calibri"/>
                <a:sym typeface="Calibri"/>
              </a:rPr>
              <a:t>Real-time HDMI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1C2331"/>
                </a:solidFill>
                <a:latin typeface="Calibri"/>
                <a:ea typeface="Calibri"/>
                <a:cs typeface="Calibri"/>
                <a:sym typeface="Calibri"/>
              </a:rPr>
              <a:t>thresholded display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1C2331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1C2331"/>
                </a:solidFill>
                <a:latin typeface="Calibri"/>
                <a:ea typeface="Calibri"/>
                <a:cs typeface="Calibri"/>
                <a:sym typeface="Calibri"/>
              </a:rPr>
              <a:t>previous-frame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1C2331"/>
                </a:solidFill>
                <a:latin typeface="Calibri"/>
                <a:ea typeface="Calibri"/>
                <a:cs typeface="Calibri"/>
                <a:sym typeface="Calibri"/>
              </a:rPr>
              <a:t>motion reporting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B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C2331"/>
                </a:solidFill>
                <a:latin typeface="Calibri"/>
                <a:ea typeface="Calibri"/>
                <a:cs typeface="Calibri"/>
                <a:sym typeface="Calibri"/>
              </a:rPr>
              <a:t>Original target vs. final delivered system</a:t>
            </a:r>
            <a:endParaRPr/>
          </a:p>
        </p:txBody>
      </p:sp>
      <p:sp>
        <p:nvSpPr>
          <p:cNvPr id="101" name="Google Shape;101;p15"/>
          <p:cNvSpPr/>
          <p:nvPr/>
        </p:nvSpPr>
        <p:spPr>
          <a:xfrm>
            <a:off x="640080" y="1371600"/>
            <a:ext cx="5257800" cy="44805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6EA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5"/>
          <p:cNvSpPr txBox="1"/>
          <p:nvPr/>
        </p:nvSpPr>
        <p:spPr>
          <a:xfrm>
            <a:off x="868680" y="1572768"/>
            <a:ext cx="4754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  <a:t>Original target</a:t>
            </a:r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896112" y="1965960"/>
            <a:ext cx="475488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1C2331"/>
                </a:solidFill>
                <a:latin typeface="Calibri"/>
                <a:ea typeface="Calibri"/>
                <a:cs typeface="Calibri"/>
                <a:sym typeface="Calibri"/>
              </a:rPr>
              <a:t>Compare the current frame with the previous frame.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1C2331"/>
                </a:solidFill>
                <a:latin typeface="Calibri"/>
                <a:ea typeface="Calibri"/>
                <a:cs typeface="Calibri"/>
                <a:sym typeface="Calibri"/>
              </a:rPr>
              <a:t>Generate a motion mask directly in hardware.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1C2331"/>
                </a:solidFill>
                <a:latin typeface="Calibri"/>
                <a:ea typeface="Calibri"/>
                <a:cs typeface="Calibri"/>
                <a:sym typeface="Calibri"/>
              </a:rPr>
              <a:t>Display the motion result directly on HDMI output.</a:t>
            </a:r>
            <a:endParaRPr/>
          </a:p>
        </p:txBody>
      </p:sp>
      <p:sp>
        <p:nvSpPr>
          <p:cNvPr id="104" name="Google Shape;104;p15"/>
          <p:cNvSpPr/>
          <p:nvPr/>
        </p:nvSpPr>
        <p:spPr>
          <a:xfrm>
            <a:off x="6263640" y="1371600"/>
            <a:ext cx="5257800" cy="44805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6EA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5"/>
          <p:cNvSpPr txBox="1"/>
          <p:nvPr/>
        </p:nvSpPr>
        <p:spPr>
          <a:xfrm>
            <a:off x="6492240" y="1572768"/>
            <a:ext cx="4754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  <a:t>Final delivered system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6519672" y="1965960"/>
            <a:ext cx="475488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1C2331"/>
                </a:solidFill>
                <a:latin typeface="Calibri"/>
                <a:ea typeface="Calibri"/>
                <a:cs typeface="Calibri"/>
                <a:sym typeface="Calibri"/>
              </a:rPr>
              <a:t>Stable thresholded HDMI output.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1C2331"/>
                </a:solidFill>
                <a:latin typeface="Calibri"/>
                <a:ea typeface="Calibri"/>
                <a:cs typeface="Calibri"/>
                <a:sym typeface="Calibri"/>
              </a:rPr>
              <a:t>Background previous-frame motion analysis.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1C2331"/>
                </a:solidFill>
                <a:latin typeface="Calibri"/>
                <a:ea typeface="Calibri"/>
                <a:cs typeface="Calibri"/>
                <a:sym typeface="Calibri"/>
              </a:rPr>
              <a:t>Motion count + 4×4 region reporting through UART.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1C2331"/>
                </a:solidFill>
                <a:latin typeface="Calibri"/>
                <a:ea typeface="Calibri"/>
                <a:cs typeface="Calibri"/>
                <a:sym typeface="Calibri"/>
              </a:rPr>
              <a:t>Readable index grid and binary grid on the PS side.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B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6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C2331"/>
                </a:solidFill>
                <a:latin typeface="Calibri"/>
                <a:ea typeface="Calibri"/>
                <a:cs typeface="Calibri"/>
                <a:sym typeface="Calibri"/>
              </a:rPr>
              <a:t>Final demo in one slide</a:t>
            </a:r>
            <a:endParaRPr/>
          </a:p>
        </p:txBody>
      </p:sp>
      <p:sp>
        <p:nvSpPr>
          <p:cNvPr id="112" name="Google Shape;112;p16"/>
          <p:cNvSpPr/>
          <p:nvPr/>
        </p:nvSpPr>
        <p:spPr>
          <a:xfrm>
            <a:off x="685800" y="1463040"/>
            <a:ext cx="5120640" cy="3120835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6EA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6"/>
          <p:cNvSpPr txBox="1"/>
          <p:nvPr/>
        </p:nvSpPr>
        <p:spPr>
          <a:xfrm>
            <a:off x="960120" y="1783080"/>
            <a:ext cx="45720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C2331"/>
                </a:solidFill>
                <a:latin typeface="Calibri"/>
                <a:ea typeface="Calibri"/>
                <a:cs typeface="Calibri"/>
                <a:sym typeface="Calibri"/>
              </a:rPr>
              <a:t>HDMI output: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1C2331"/>
                </a:solidFill>
                <a:latin typeface="Calibri"/>
                <a:ea typeface="Calibri"/>
                <a:cs typeface="Calibri"/>
                <a:sym typeface="Calibri"/>
              </a:rPr>
              <a:t>stable thresholded image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>
              <a:solidFill>
                <a:srgbClr val="1C233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C2331"/>
                </a:solidFill>
                <a:latin typeface="Calibri"/>
                <a:ea typeface="Calibri"/>
                <a:cs typeface="Calibri"/>
                <a:sym typeface="Calibri"/>
              </a:rPr>
              <a:t>UART output: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1C2331"/>
                </a:solidFill>
                <a:latin typeface="Calibri"/>
                <a:ea typeface="Calibri"/>
                <a:cs typeface="Calibri"/>
                <a:sym typeface="Calibri"/>
              </a:rPr>
              <a:t>motion_count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1C2331"/>
                </a:solidFill>
                <a:latin typeface="Calibri"/>
                <a:ea typeface="Calibri"/>
                <a:cs typeface="Calibri"/>
                <a:sym typeface="Calibri"/>
              </a:rPr>
              <a:t>4×4 index grid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1C2331"/>
                </a:solidFill>
                <a:latin typeface="Calibri"/>
                <a:ea typeface="Calibri"/>
                <a:cs typeface="Calibri"/>
                <a:sym typeface="Calibri"/>
              </a:rPr>
              <a:t>4×4 binary grid</a:t>
            </a:r>
            <a:endParaRPr/>
          </a:p>
        </p:txBody>
      </p:sp>
      <p:sp>
        <p:nvSpPr>
          <p:cNvPr id="114" name="Google Shape;114;p16"/>
          <p:cNvSpPr/>
          <p:nvPr/>
        </p:nvSpPr>
        <p:spPr>
          <a:xfrm>
            <a:off x="6172200" y="1463040"/>
            <a:ext cx="5303520" cy="3120835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6EA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6"/>
          <p:cNvSpPr txBox="1"/>
          <p:nvPr/>
        </p:nvSpPr>
        <p:spPr>
          <a:xfrm>
            <a:off x="6446520" y="1783080"/>
            <a:ext cx="466344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C2331"/>
                </a:solidFill>
                <a:latin typeface="Courier New"/>
                <a:ea typeface="Courier New"/>
                <a:cs typeface="Courier New"/>
                <a:sym typeface="Courier New"/>
              </a:rPr>
              <a:t>[HB] app alive=12, rx_lock=1,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C2331"/>
                </a:solidFill>
                <a:latin typeface="Courier New"/>
                <a:ea typeface="Courier New"/>
                <a:cs typeface="Courier New"/>
                <a:sym typeface="Courier New"/>
              </a:rPr>
              <a:t>tx_lock=1, motion_count=428, motion=1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1C233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C2331"/>
                </a:solidFill>
                <a:latin typeface="Courier New"/>
                <a:ea typeface="Courier New"/>
                <a:cs typeface="Courier New"/>
                <a:sym typeface="Courier New"/>
              </a:rPr>
              <a:t>Index grid              | Binary grid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C2331"/>
                </a:solidFill>
                <a:latin typeface="Courier New"/>
                <a:ea typeface="Courier New"/>
                <a:cs typeface="Courier New"/>
                <a:sym typeface="Courier New"/>
              </a:rPr>
              <a:t> 0  2  0  0             | 0 1 0 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C2331"/>
                </a:solidFill>
                <a:latin typeface="Courier New"/>
                <a:ea typeface="Courier New"/>
                <a:cs typeface="Courier New"/>
                <a:sym typeface="Courier New"/>
              </a:rPr>
              <a:t> 0  0  7  0             | 0 0 1 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C2331"/>
                </a:solidFill>
                <a:latin typeface="Courier New"/>
                <a:ea typeface="Courier New"/>
                <a:cs typeface="Courier New"/>
                <a:sym typeface="Courier New"/>
              </a:rPr>
              <a:t> 0  0 11 12             | 0 0 1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C2331"/>
                </a:solidFill>
                <a:latin typeface="Courier New"/>
                <a:ea typeface="Courier New"/>
                <a:cs typeface="Courier New"/>
                <a:sym typeface="Courier New"/>
              </a:rPr>
              <a:t> 0  0  0 16             | 0 0 0 1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B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7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C2331"/>
                </a:solidFill>
                <a:latin typeface="Calibri"/>
                <a:ea typeface="Calibri"/>
                <a:cs typeface="Calibri"/>
                <a:sym typeface="Calibri"/>
              </a:rPr>
              <a:t>System architecture</a:t>
            </a:r>
            <a:endParaRPr/>
          </a:p>
        </p:txBody>
      </p:sp>
      <p:sp>
        <p:nvSpPr>
          <p:cNvPr id="121" name="Google Shape;121;p17"/>
          <p:cNvSpPr/>
          <p:nvPr/>
        </p:nvSpPr>
        <p:spPr>
          <a:xfrm>
            <a:off x="306872" y="2011680"/>
            <a:ext cx="1371600" cy="822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6EA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7"/>
          <p:cNvSpPr txBox="1"/>
          <p:nvPr/>
        </p:nvSpPr>
        <p:spPr>
          <a:xfrm>
            <a:off x="380024" y="2240280"/>
            <a:ext cx="1234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1C2331"/>
                </a:solidFill>
                <a:latin typeface="Calibri"/>
                <a:ea typeface="Calibri"/>
                <a:cs typeface="Calibri"/>
                <a:sym typeface="Calibri"/>
              </a:rPr>
              <a:t>HDMI In</a:t>
            </a:r>
            <a:endParaRPr/>
          </a:p>
        </p:txBody>
      </p:sp>
      <p:sp>
        <p:nvSpPr>
          <p:cNvPr id="123" name="Google Shape;123;p17"/>
          <p:cNvSpPr/>
          <p:nvPr/>
        </p:nvSpPr>
        <p:spPr>
          <a:xfrm>
            <a:off x="2570127" y="2011675"/>
            <a:ext cx="1790100" cy="822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6EA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7"/>
          <p:cNvSpPr txBox="1"/>
          <p:nvPr/>
        </p:nvSpPr>
        <p:spPr>
          <a:xfrm>
            <a:off x="2715702" y="2245096"/>
            <a:ext cx="1554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1C2331"/>
                </a:solidFill>
                <a:latin typeface="Calibri"/>
                <a:ea typeface="Calibri"/>
                <a:cs typeface="Calibri"/>
                <a:sym typeface="Calibri"/>
              </a:rPr>
              <a:t>v_vid_in_axi4s</a:t>
            </a:r>
            <a:endParaRPr/>
          </a:p>
        </p:txBody>
      </p:sp>
      <p:sp>
        <p:nvSpPr>
          <p:cNvPr id="125" name="Google Shape;125;p17"/>
          <p:cNvSpPr/>
          <p:nvPr/>
        </p:nvSpPr>
        <p:spPr>
          <a:xfrm>
            <a:off x="5098497" y="2011675"/>
            <a:ext cx="1929300" cy="822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6EA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7"/>
          <p:cNvSpPr txBox="1"/>
          <p:nvPr/>
        </p:nvSpPr>
        <p:spPr>
          <a:xfrm>
            <a:off x="5171650" y="2240275"/>
            <a:ext cx="1700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C2331"/>
                </a:solidFill>
                <a:latin typeface="Calibri"/>
                <a:ea typeface="Calibri"/>
                <a:cs typeface="Calibri"/>
                <a:sym typeface="Calibri"/>
              </a:rPr>
              <a:t>video_gray_live</a:t>
            </a:r>
            <a:endParaRPr/>
          </a:p>
        </p:txBody>
      </p:sp>
      <p:sp>
        <p:nvSpPr>
          <p:cNvPr id="127" name="Google Shape;127;p17"/>
          <p:cNvSpPr/>
          <p:nvPr/>
        </p:nvSpPr>
        <p:spPr>
          <a:xfrm>
            <a:off x="7823412" y="2005650"/>
            <a:ext cx="1828800" cy="822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6EA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7"/>
          <p:cNvSpPr txBox="1"/>
          <p:nvPr/>
        </p:nvSpPr>
        <p:spPr>
          <a:xfrm>
            <a:off x="7896561" y="2234247"/>
            <a:ext cx="1663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1C2331"/>
                </a:solidFill>
                <a:latin typeface="Calibri"/>
                <a:ea typeface="Calibri"/>
                <a:cs typeface="Calibri"/>
                <a:sym typeface="Calibri"/>
              </a:rPr>
              <a:t>Reg Slice / FIFO</a:t>
            </a:r>
            <a:endParaRPr/>
          </a:p>
        </p:txBody>
      </p:sp>
      <p:sp>
        <p:nvSpPr>
          <p:cNvPr id="129" name="Google Shape;129;p17"/>
          <p:cNvSpPr/>
          <p:nvPr/>
        </p:nvSpPr>
        <p:spPr>
          <a:xfrm>
            <a:off x="10374662" y="2011680"/>
            <a:ext cx="1371600" cy="822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6EA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7"/>
          <p:cNvSpPr txBox="1"/>
          <p:nvPr/>
        </p:nvSpPr>
        <p:spPr>
          <a:xfrm>
            <a:off x="10447814" y="2240280"/>
            <a:ext cx="1234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1C2331"/>
                </a:solidFill>
                <a:latin typeface="Calibri"/>
                <a:ea typeface="Calibri"/>
                <a:cs typeface="Calibri"/>
                <a:sym typeface="Calibri"/>
              </a:rPr>
              <a:t>HDMI Out</a:t>
            </a:r>
            <a:endParaRPr/>
          </a:p>
        </p:txBody>
      </p:sp>
      <p:sp>
        <p:nvSpPr>
          <p:cNvPr id="131" name="Google Shape;131;p17"/>
          <p:cNvSpPr txBox="1"/>
          <p:nvPr/>
        </p:nvSpPr>
        <p:spPr>
          <a:xfrm>
            <a:off x="1940701" y="2222009"/>
            <a:ext cx="36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/>
          </a:p>
        </p:txBody>
      </p:sp>
      <p:sp>
        <p:nvSpPr>
          <p:cNvPr id="132" name="Google Shape;132;p17"/>
          <p:cNvSpPr txBox="1"/>
          <p:nvPr/>
        </p:nvSpPr>
        <p:spPr>
          <a:xfrm>
            <a:off x="4478450" y="2238475"/>
            <a:ext cx="411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/>
          </a:p>
        </p:txBody>
      </p:sp>
      <p:sp>
        <p:nvSpPr>
          <p:cNvPr id="133" name="Google Shape;133;p17"/>
          <p:cNvSpPr txBox="1"/>
          <p:nvPr/>
        </p:nvSpPr>
        <p:spPr>
          <a:xfrm>
            <a:off x="7193387" y="2232438"/>
            <a:ext cx="320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/>
          </a:p>
        </p:txBody>
      </p:sp>
      <p:sp>
        <p:nvSpPr>
          <p:cNvPr id="134" name="Google Shape;134;p17"/>
          <p:cNvSpPr txBox="1"/>
          <p:nvPr/>
        </p:nvSpPr>
        <p:spPr>
          <a:xfrm>
            <a:off x="9770505" y="2221992"/>
            <a:ext cx="320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/>
          </a:p>
        </p:txBody>
      </p:sp>
      <p:sp>
        <p:nvSpPr>
          <p:cNvPr id="135" name="Google Shape;135;p17"/>
          <p:cNvSpPr/>
          <p:nvPr/>
        </p:nvSpPr>
        <p:spPr>
          <a:xfrm>
            <a:off x="4954353" y="3703250"/>
            <a:ext cx="2397300" cy="731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6EA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7"/>
          <p:cNvSpPr txBox="1"/>
          <p:nvPr/>
        </p:nvSpPr>
        <p:spPr>
          <a:xfrm>
            <a:off x="5103900" y="3904075"/>
            <a:ext cx="2098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C2331"/>
                </a:solidFill>
                <a:latin typeface="Calibri"/>
                <a:ea typeface="Calibri"/>
                <a:cs typeface="Calibri"/>
                <a:sym typeface="Calibri"/>
              </a:rPr>
              <a:t>AXI GPIO → PS → UART</a:t>
            </a:r>
            <a:endParaRPr/>
          </a:p>
        </p:txBody>
      </p:sp>
      <p:sp>
        <p:nvSpPr>
          <p:cNvPr id="137" name="Google Shape;137;p17"/>
          <p:cNvSpPr txBox="1"/>
          <p:nvPr/>
        </p:nvSpPr>
        <p:spPr>
          <a:xfrm>
            <a:off x="4954345" y="3002863"/>
            <a:ext cx="23973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br>
              <a:rPr lang="en-US" sz="1900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  <a:t>motion_count_out[31:0]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B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8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C2331"/>
                </a:solidFill>
                <a:latin typeface="Calibri"/>
                <a:ea typeface="Calibri"/>
                <a:cs typeface="Calibri"/>
                <a:sym typeface="Calibri"/>
              </a:rPr>
              <a:t>Inside the HLS IP</a:t>
            </a:r>
            <a:endParaRPr/>
          </a:p>
        </p:txBody>
      </p:sp>
      <p:sp>
        <p:nvSpPr>
          <p:cNvPr id="143" name="Google Shape;143;p18"/>
          <p:cNvSpPr/>
          <p:nvPr/>
        </p:nvSpPr>
        <p:spPr>
          <a:xfrm>
            <a:off x="640080" y="1371600"/>
            <a:ext cx="5257800" cy="44805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6EA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8"/>
          <p:cNvSpPr txBox="1"/>
          <p:nvPr/>
        </p:nvSpPr>
        <p:spPr>
          <a:xfrm>
            <a:off x="868680" y="1572768"/>
            <a:ext cx="4754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  <a:t>Display path</a:t>
            </a:r>
            <a:endParaRPr/>
          </a:p>
        </p:txBody>
      </p:sp>
      <p:sp>
        <p:nvSpPr>
          <p:cNvPr id="145" name="Google Shape;145;p18"/>
          <p:cNvSpPr txBox="1"/>
          <p:nvPr/>
        </p:nvSpPr>
        <p:spPr>
          <a:xfrm>
            <a:off x="896112" y="1965960"/>
            <a:ext cx="475488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1C2331"/>
                </a:solidFill>
                <a:latin typeface="Calibri"/>
                <a:ea typeface="Calibri"/>
                <a:cs typeface="Calibri"/>
                <a:sym typeface="Calibri"/>
              </a:rPr>
              <a:t>Read incoming RGB pixel.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1C2331"/>
                </a:solidFill>
                <a:latin typeface="Calibri"/>
                <a:ea typeface="Calibri"/>
                <a:cs typeface="Calibri"/>
                <a:sym typeface="Calibri"/>
              </a:rPr>
              <a:t>Use the green channel as a grayscale proxy.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1C2331"/>
                </a:solidFill>
                <a:latin typeface="Calibri"/>
                <a:ea typeface="Calibri"/>
                <a:cs typeface="Calibri"/>
                <a:sym typeface="Calibri"/>
              </a:rPr>
              <a:t>Apply threshold.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1C2331"/>
                </a:solidFill>
                <a:latin typeface="Calibri"/>
                <a:ea typeface="Calibri"/>
                <a:cs typeface="Calibri"/>
                <a:sym typeface="Calibri"/>
              </a:rPr>
              <a:t>Output a stable black/white HDMI image.</a:t>
            </a:r>
            <a:endParaRPr/>
          </a:p>
        </p:txBody>
      </p:sp>
      <p:sp>
        <p:nvSpPr>
          <p:cNvPr id="146" name="Google Shape;146;p18"/>
          <p:cNvSpPr/>
          <p:nvPr/>
        </p:nvSpPr>
        <p:spPr>
          <a:xfrm>
            <a:off x="6263640" y="1371600"/>
            <a:ext cx="5257800" cy="44805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6EA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8"/>
          <p:cNvSpPr txBox="1"/>
          <p:nvPr/>
        </p:nvSpPr>
        <p:spPr>
          <a:xfrm>
            <a:off x="6492240" y="1572768"/>
            <a:ext cx="4754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  <a:t>Background motion path</a:t>
            </a:r>
            <a:endParaRPr/>
          </a:p>
        </p:txBody>
      </p:sp>
      <p:sp>
        <p:nvSpPr>
          <p:cNvPr id="148" name="Google Shape;148;p18"/>
          <p:cNvSpPr txBox="1"/>
          <p:nvPr/>
        </p:nvSpPr>
        <p:spPr>
          <a:xfrm>
            <a:off x="6519672" y="1965960"/>
            <a:ext cx="475488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1C2331"/>
                </a:solidFill>
                <a:latin typeface="Calibri"/>
                <a:ea typeface="Calibri"/>
                <a:cs typeface="Calibri"/>
                <a:sym typeface="Calibri"/>
              </a:rPr>
              <a:t>Sample one point per 4×4 block.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1C2331"/>
                </a:solidFill>
                <a:latin typeface="Calibri"/>
                <a:ea typeface="Calibri"/>
                <a:cs typeface="Calibri"/>
                <a:sym typeface="Calibri"/>
              </a:rPr>
              <a:t>Compare current binary value with previous-frame stored value.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1C2331"/>
                </a:solidFill>
                <a:latin typeface="Calibri"/>
                <a:ea typeface="Calibri"/>
                <a:cs typeface="Calibri"/>
                <a:sym typeface="Calibri"/>
              </a:rPr>
              <a:t>Increment motion_count when the block changes.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1C2331"/>
                </a:solidFill>
                <a:latin typeface="Calibri"/>
                <a:ea typeface="Calibri"/>
                <a:cs typeface="Calibri"/>
                <a:sym typeface="Calibri"/>
              </a:rPr>
              <a:t>Set the bit for the active 4×4 region.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B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9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C2331"/>
                </a:solidFill>
                <a:latin typeface="Calibri"/>
                <a:ea typeface="Calibri"/>
                <a:cs typeface="Calibri"/>
                <a:sym typeface="Calibri"/>
              </a:rPr>
              <a:t>Motion detection method</a:t>
            </a:r>
            <a:endParaRPr/>
          </a:p>
        </p:txBody>
      </p:sp>
      <p:sp>
        <p:nvSpPr>
          <p:cNvPr id="154" name="Google Shape;154;p19"/>
          <p:cNvSpPr txBox="1"/>
          <p:nvPr/>
        </p:nvSpPr>
        <p:spPr>
          <a:xfrm>
            <a:off x="731520" y="1554480"/>
            <a:ext cx="566928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1C2331"/>
                </a:solidFill>
                <a:latin typeface="Calibri"/>
                <a:ea typeface="Calibri"/>
                <a:cs typeface="Calibri"/>
                <a:sym typeface="Calibri"/>
              </a:rPr>
              <a:t>Frame size: 1280 × 720.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1C2331"/>
                </a:solidFill>
                <a:latin typeface="Calibri"/>
                <a:ea typeface="Calibri"/>
                <a:cs typeface="Calibri"/>
                <a:sym typeface="Calibri"/>
              </a:rPr>
              <a:t>Motion grid after 4×4 downsampling: 320 × 180.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1C2331"/>
                </a:solidFill>
                <a:latin typeface="Calibri"/>
                <a:ea typeface="Calibri"/>
                <a:cs typeface="Calibri"/>
                <a:sym typeface="Calibri"/>
              </a:rPr>
              <a:t>One motion sample is computed for each 4×4 block.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1C2331"/>
                </a:solidFill>
                <a:latin typeface="Calibri"/>
                <a:ea typeface="Calibri"/>
                <a:cs typeface="Calibri"/>
                <a:sym typeface="Calibri"/>
              </a:rPr>
              <a:t>Binary motion logic: curr_bin = (g ≥ T), motion = curr_bin XOR prev_bin.</a:t>
            </a:r>
            <a:endParaRPr/>
          </a:p>
        </p:txBody>
      </p:sp>
      <p:sp>
        <p:nvSpPr>
          <p:cNvPr id="155" name="Google Shape;155;p19"/>
          <p:cNvSpPr/>
          <p:nvPr/>
        </p:nvSpPr>
        <p:spPr>
          <a:xfrm>
            <a:off x="6629400" y="1645920"/>
            <a:ext cx="4754880" cy="38404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6EA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9"/>
          <p:cNvSpPr txBox="1"/>
          <p:nvPr/>
        </p:nvSpPr>
        <p:spPr>
          <a:xfrm>
            <a:off x="6903720" y="1965960"/>
            <a:ext cx="4206240" cy="3108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C2331"/>
                </a:solidFill>
                <a:latin typeface="Courier New"/>
                <a:ea typeface="Courier New"/>
                <a:cs typeface="Courier New"/>
                <a:sym typeface="Courier New"/>
              </a:rPr>
              <a:t>curr_bin = (g &gt;= T)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C233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C2331"/>
                </a:solidFill>
                <a:latin typeface="Courier New"/>
                <a:ea typeface="Courier New"/>
                <a:cs typeface="Courier New"/>
                <a:sym typeface="Courier New"/>
              </a:rPr>
              <a:t>motion = curr_bin XOR prev_bin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C233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C2331"/>
                </a:solidFill>
                <a:latin typeface="Courier New"/>
                <a:ea typeface="Courier New"/>
                <a:cs typeface="Courier New"/>
                <a:sym typeface="Courier New"/>
              </a:rPr>
              <a:t>if (motion):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C2331"/>
                </a:solidFill>
                <a:latin typeface="Courier New"/>
                <a:ea typeface="Courier New"/>
                <a:cs typeface="Courier New"/>
                <a:sym typeface="Courier New"/>
              </a:rPr>
              <a:t>  motion_count++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C2331"/>
                </a:solidFill>
                <a:latin typeface="Courier New"/>
                <a:ea typeface="Courier New"/>
                <a:cs typeface="Courier New"/>
                <a:sym typeface="Courier New"/>
              </a:rPr>
              <a:t>  region_mask |= (1 &lt;&lt; region_idx)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B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0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C2331"/>
                </a:solidFill>
                <a:latin typeface="Calibri"/>
                <a:ea typeface="Calibri"/>
                <a:cs typeface="Calibri"/>
                <a:sym typeface="Calibri"/>
              </a:rPr>
              <a:t>4×4 region mapping</a:t>
            </a:r>
            <a:endParaRPr/>
          </a:p>
        </p:txBody>
      </p:sp>
      <p:sp>
        <p:nvSpPr>
          <p:cNvPr id="162" name="Google Shape;162;p20"/>
          <p:cNvSpPr/>
          <p:nvPr/>
        </p:nvSpPr>
        <p:spPr>
          <a:xfrm>
            <a:off x="1828800" y="1554480"/>
            <a:ext cx="3840480" cy="4114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6EA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20"/>
          <p:cNvSpPr txBox="1"/>
          <p:nvPr/>
        </p:nvSpPr>
        <p:spPr>
          <a:xfrm>
            <a:off x="2331720" y="2103120"/>
            <a:ext cx="2834640" cy="2926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1C2331"/>
                </a:solidFill>
                <a:latin typeface="Courier New"/>
                <a:ea typeface="Courier New"/>
                <a:cs typeface="Courier New"/>
                <a:sym typeface="Courier New"/>
              </a:rPr>
              <a:t> 1   2   3   4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1C2331"/>
                </a:solidFill>
                <a:latin typeface="Courier New"/>
                <a:ea typeface="Courier New"/>
                <a:cs typeface="Courier New"/>
                <a:sym typeface="Courier New"/>
              </a:rPr>
              <a:t> 5   6   7   8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1C2331"/>
                </a:solidFill>
                <a:latin typeface="Courier New"/>
                <a:ea typeface="Courier New"/>
                <a:cs typeface="Courier New"/>
                <a:sym typeface="Courier New"/>
              </a:rPr>
              <a:t> 9  10  11  12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1C2331"/>
                </a:solidFill>
                <a:latin typeface="Courier New"/>
                <a:ea typeface="Courier New"/>
                <a:cs typeface="Courier New"/>
                <a:sym typeface="Courier New"/>
              </a:rPr>
              <a:t>13  14  15  16</a:t>
            </a:r>
            <a:endParaRPr/>
          </a:p>
        </p:txBody>
      </p:sp>
      <p:sp>
        <p:nvSpPr>
          <p:cNvPr id="164" name="Google Shape;164;p20"/>
          <p:cNvSpPr txBox="1"/>
          <p:nvPr/>
        </p:nvSpPr>
        <p:spPr>
          <a:xfrm>
            <a:off x="6400800" y="1828800"/>
            <a:ext cx="4755000" cy="14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1C2331"/>
                </a:solidFill>
                <a:latin typeface="Calibri"/>
                <a:ea typeface="Calibri"/>
                <a:cs typeface="Calibri"/>
                <a:sym typeface="Calibri"/>
              </a:rPr>
              <a:t>The region mask uses 16 bits.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1C2331"/>
                </a:solidFill>
                <a:latin typeface="Calibri"/>
                <a:ea typeface="Calibri"/>
                <a:cs typeface="Calibri"/>
                <a:sym typeface="Calibri"/>
              </a:rPr>
              <a:t>The PS prints both an index grid and a binary grid for readability.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B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C2331"/>
                </a:solidFill>
                <a:latin typeface="Calibri"/>
                <a:ea typeface="Calibri"/>
                <a:cs typeface="Calibri"/>
                <a:sym typeface="Calibri"/>
              </a:rPr>
              <a:t>Major technical challenge</a:t>
            </a:r>
            <a:endParaRPr/>
          </a:p>
        </p:txBody>
      </p:sp>
      <p:sp>
        <p:nvSpPr>
          <p:cNvPr id="170" name="Google Shape;170;p21"/>
          <p:cNvSpPr/>
          <p:nvPr/>
        </p:nvSpPr>
        <p:spPr>
          <a:xfrm>
            <a:off x="822960" y="1554480"/>
            <a:ext cx="10515600" cy="42976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6EA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21"/>
          <p:cNvSpPr txBox="1"/>
          <p:nvPr/>
        </p:nvSpPr>
        <p:spPr>
          <a:xfrm>
            <a:off x="1097280" y="1920240"/>
            <a:ext cx="9875520" cy="3474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1C2331"/>
                </a:solidFill>
                <a:latin typeface="Calibri"/>
                <a:ea typeface="Calibri"/>
                <a:cs typeface="Calibri"/>
                <a:sym typeface="Calibri"/>
              </a:rPr>
              <a:t>Threshold-only HDMI output was stable.</a:t>
            </a:r>
            <a:endParaRPr/>
          </a:p>
          <a:p>
            <a:pPr indent="0" lvl="0" marL="0" marR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1C2331"/>
                </a:solidFill>
                <a:latin typeface="Calibri"/>
                <a:ea typeface="Calibri"/>
                <a:cs typeface="Calibri"/>
                <a:sym typeface="Calibri"/>
              </a:rPr>
              <a:t>Previous-frame read/write in the background was possible.</a:t>
            </a:r>
            <a:endParaRPr/>
          </a:p>
          <a:p>
            <a:pPr indent="0" lvl="0" marL="0" marR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1C2331"/>
                </a:solidFill>
                <a:latin typeface="Calibri"/>
                <a:ea typeface="Calibri"/>
                <a:cs typeface="Calibri"/>
                <a:sym typeface="Calibri"/>
              </a:rPr>
              <a:t>But when HDMI output directly depended on previous-frame comparison, TX lock often failed.</a:t>
            </a:r>
            <a:endParaRPr/>
          </a:p>
          <a:p>
            <a:pPr indent="0" lvl="0" marL="0" marR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1C2331"/>
                </a:solidFill>
                <a:latin typeface="Calibri"/>
                <a:ea typeface="Calibri"/>
                <a:cs typeface="Calibri"/>
                <a:sym typeface="Calibri"/>
              </a:rPr>
              <a:t>The problem was not motion detection itself, but preserving a stable live HDMI output path.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B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C2331"/>
                </a:solidFill>
                <a:latin typeface="Calibri"/>
                <a:ea typeface="Calibri"/>
                <a:cs typeface="Calibri"/>
                <a:sym typeface="Calibri"/>
              </a:rPr>
              <a:t>Debugging process</a:t>
            </a:r>
            <a:endParaRPr/>
          </a:p>
        </p:txBody>
      </p:sp>
      <p:sp>
        <p:nvSpPr>
          <p:cNvPr id="177" name="Google Shape;177;p22"/>
          <p:cNvSpPr txBox="1"/>
          <p:nvPr/>
        </p:nvSpPr>
        <p:spPr>
          <a:xfrm>
            <a:off x="914400" y="1463040"/>
            <a:ext cx="987552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1C2331"/>
                </a:solidFill>
                <a:latin typeface="Calibri"/>
                <a:ea typeface="Calibri"/>
                <a:cs typeface="Calibri"/>
                <a:sym typeface="Calibri"/>
              </a:rPr>
              <a:t>1. HDMI passthrough bring-up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1C2331"/>
                </a:solidFill>
                <a:latin typeface="Calibri"/>
                <a:ea typeface="Calibri"/>
                <a:cs typeface="Calibri"/>
                <a:sym typeface="Calibri"/>
              </a:rPr>
              <a:t>2. Grayscale output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1C2331"/>
                </a:solidFill>
                <a:latin typeface="Calibri"/>
                <a:ea typeface="Calibri"/>
                <a:cs typeface="Calibri"/>
                <a:sym typeface="Calibri"/>
              </a:rPr>
              <a:t>3. Threshold output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1C2331"/>
                </a:solidFill>
                <a:latin typeface="Calibri"/>
                <a:ea typeface="Calibri"/>
                <a:cs typeface="Calibri"/>
                <a:sym typeface="Calibri"/>
              </a:rPr>
              <a:t>4. Previous-frame access in background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1C2331"/>
                </a:solidFill>
                <a:latin typeface="Calibri"/>
                <a:ea typeface="Calibri"/>
                <a:cs typeface="Calibri"/>
                <a:sym typeface="Calibri"/>
              </a:rPr>
              <a:t>5. Direct motion-mask output attempt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1C2331"/>
                </a:solidFill>
                <a:latin typeface="Calibri"/>
                <a:ea typeface="Calibri"/>
                <a:cs typeface="Calibri"/>
                <a:sym typeface="Calibri"/>
              </a:rPr>
              <a:t>6. TX lock failure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1C2331"/>
                </a:solidFill>
                <a:latin typeface="Calibri"/>
                <a:ea typeface="Calibri"/>
                <a:cs typeface="Calibri"/>
                <a:sym typeface="Calibri"/>
              </a:rPr>
              <a:t>7. Added register slice / FIFO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1C2331"/>
                </a:solidFill>
                <a:latin typeface="Calibri"/>
                <a:ea typeface="Calibri"/>
                <a:cs typeface="Calibri"/>
                <a:sym typeface="Calibri"/>
              </a:rPr>
              <a:t>8. Re-tested several HLS versions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1C2331"/>
                </a:solidFill>
                <a:latin typeface="Calibri"/>
                <a:ea typeface="Calibri"/>
                <a:cs typeface="Calibri"/>
                <a:sym typeface="Calibri"/>
              </a:rPr>
              <a:t>9. Final separation of display path and motion-report path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B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C2331"/>
                </a:solidFill>
                <a:latin typeface="Calibri"/>
                <a:ea typeface="Calibri"/>
                <a:cs typeface="Calibri"/>
                <a:sym typeface="Calibri"/>
              </a:rPr>
              <a:t>What finally worked</a:t>
            </a:r>
            <a:endParaRPr/>
          </a:p>
        </p:txBody>
      </p:sp>
      <p:sp>
        <p:nvSpPr>
          <p:cNvPr id="183" name="Google Shape;183;p23"/>
          <p:cNvSpPr/>
          <p:nvPr/>
        </p:nvSpPr>
        <p:spPr>
          <a:xfrm>
            <a:off x="822960" y="1463040"/>
            <a:ext cx="10424160" cy="43891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6EA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3"/>
          <p:cNvSpPr txBox="1"/>
          <p:nvPr/>
        </p:nvSpPr>
        <p:spPr>
          <a:xfrm>
            <a:off x="1005840" y="1828800"/>
            <a:ext cx="9966900" cy="18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D4ED8"/>
                </a:solidFill>
                <a:latin typeface="Courier New"/>
                <a:ea typeface="Courier New"/>
                <a:cs typeface="Courier New"/>
                <a:sym typeface="Courier New"/>
              </a:rPr>
              <a:t>Version / behavior           	 </a:t>
            </a:r>
            <a:r>
              <a:rPr b="1" lang="en-US" sz="2000">
                <a:solidFill>
                  <a:srgbClr val="1D4ED8"/>
                </a:solidFill>
                <a:latin typeface="Courier New"/>
                <a:ea typeface="Courier New"/>
                <a:cs typeface="Courier New"/>
                <a:sym typeface="Courier New"/>
              </a:rPr>
              <a:t>|</a:t>
            </a:r>
            <a:r>
              <a:rPr b="1" lang="en-US" sz="2000">
                <a:solidFill>
                  <a:srgbClr val="1D4ED8"/>
                </a:solidFill>
                <a:latin typeface="Courier New"/>
                <a:ea typeface="Courier New"/>
                <a:cs typeface="Courier New"/>
                <a:sym typeface="Courier New"/>
              </a:rPr>
              <a:t> Result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1C2331"/>
                </a:solidFill>
                <a:latin typeface="Courier New"/>
                <a:ea typeface="Courier New"/>
                <a:cs typeface="Courier New"/>
                <a:sym typeface="Courier New"/>
              </a:rPr>
              <a:t>Pass-through                    | Stable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1C2331"/>
                </a:solidFill>
                <a:latin typeface="Courier New"/>
                <a:ea typeface="Courier New"/>
                <a:cs typeface="Courier New"/>
                <a:sym typeface="Courier New"/>
              </a:rPr>
              <a:t>Threshold only                  | Stable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1C2331"/>
                </a:solidFill>
                <a:latin typeface="Courier New"/>
                <a:ea typeface="Courier New"/>
                <a:cs typeface="Courier New"/>
                <a:sym typeface="Courier New"/>
              </a:rPr>
              <a:t>Threshold + background memory   | Stable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1C2331"/>
                </a:solidFill>
                <a:latin typeface="Courier New"/>
                <a:ea typeface="Courier New"/>
                <a:cs typeface="Courier New"/>
                <a:sym typeface="Courier New"/>
              </a:rPr>
              <a:t>Direct motion-mask output       | Unstable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1C2331"/>
                </a:solidFill>
                <a:latin typeface="Courier New"/>
                <a:ea typeface="Courier New"/>
                <a:cs typeface="Courier New"/>
                <a:sym typeface="Courier New"/>
              </a:rPr>
              <a:t>Final design                    | Stable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B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4"/>
          <p:cNvSpPr txBox="1"/>
          <p:nvPr/>
        </p:nvSpPr>
        <p:spPr>
          <a:xfrm>
            <a:off x="548640" y="320040"/>
            <a:ext cx="11064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C2331"/>
                </a:solidFill>
                <a:latin typeface="Calibri"/>
                <a:ea typeface="Calibri"/>
                <a:cs typeface="Calibri"/>
                <a:sym typeface="Calibri"/>
              </a:rPr>
              <a:t>PS</a:t>
            </a:r>
            <a:r>
              <a:rPr b="1" lang="en-US" sz="2800">
                <a:solidFill>
                  <a:srgbClr val="1C2331"/>
                </a:solidFill>
                <a:latin typeface="Calibri"/>
                <a:ea typeface="Calibri"/>
                <a:cs typeface="Calibri"/>
                <a:sym typeface="Calibri"/>
              </a:rPr>
              <a:t>(Processing System)</a:t>
            </a:r>
            <a:r>
              <a:rPr b="1" lang="en-US" sz="2800">
                <a:solidFill>
                  <a:srgbClr val="1C2331"/>
                </a:solidFill>
                <a:latin typeface="Calibri"/>
                <a:ea typeface="Calibri"/>
                <a:cs typeface="Calibri"/>
                <a:sym typeface="Calibri"/>
              </a:rPr>
              <a:t> and UART reporting</a:t>
            </a:r>
            <a:endParaRPr/>
          </a:p>
        </p:txBody>
      </p:sp>
      <p:sp>
        <p:nvSpPr>
          <p:cNvPr id="190" name="Google Shape;190;p24"/>
          <p:cNvSpPr txBox="1"/>
          <p:nvPr/>
        </p:nvSpPr>
        <p:spPr>
          <a:xfrm>
            <a:off x="459299" y="1645925"/>
            <a:ext cx="58500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1C2331"/>
                </a:solidFill>
                <a:latin typeface="Calibri"/>
                <a:ea typeface="Calibri"/>
                <a:cs typeface="Calibri"/>
                <a:sym typeface="Calibri"/>
              </a:rPr>
              <a:t>The PS configures the clock wizard and VTC.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1C2331"/>
                </a:solidFill>
                <a:latin typeface="Calibri"/>
                <a:ea typeface="Calibri"/>
                <a:cs typeface="Calibri"/>
                <a:sym typeface="Calibri"/>
              </a:rPr>
              <a:t>The PS monitors HDMI RX/TX lock signals.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1C2331"/>
                </a:solidFill>
                <a:latin typeface="Calibri"/>
                <a:ea typeface="Calibri"/>
                <a:cs typeface="Calibri"/>
                <a:sym typeface="Calibri"/>
              </a:rPr>
              <a:t>The PS reads motion_count_out through AXI GPIO.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1C2331"/>
                </a:solidFill>
                <a:latin typeface="Calibri"/>
                <a:ea typeface="Calibri"/>
                <a:cs typeface="Calibri"/>
                <a:sym typeface="Calibri"/>
              </a:rPr>
              <a:t>The PS prints motion_count plus both 4×4 visualizations.</a:t>
            </a:r>
            <a:endParaRPr/>
          </a:p>
        </p:txBody>
      </p:sp>
      <p:sp>
        <p:nvSpPr>
          <p:cNvPr id="191" name="Google Shape;191;p24"/>
          <p:cNvSpPr/>
          <p:nvPr/>
        </p:nvSpPr>
        <p:spPr>
          <a:xfrm>
            <a:off x="6492240" y="1645920"/>
            <a:ext cx="4572000" cy="40233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6EA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4"/>
          <p:cNvSpPr txBox="1"/>
          <p:nvPr/>
        </p:nvSpPr>
        <p:spPr>
          <a:xfrm>
            <a:off x="6720850" y="1920250"/>
            <a:ext cx="4114800" cy="14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1C2331"/>
                </a:solidFill>
                <a:latin typeface="Courier New"/>
                <a:ea typeface="Courier New"/>
                <a:cs typeface="Courier New"/>
                <a:sym typeface="Courier New"/>
              </a:rPr>
              <a:t>Index grid      | Binary grid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1C2331"/>
                </a:solidFill>
                <a:latin typeface="Courier New"/>
                <a:ea typeface="Courier New"/>
                <a:cs typeface="Courier New"/>
                <a:sym typeface="Courier New"/>
              </a:rPr>
              <a:t> 0  2  0  0     | 0 1 0 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1C2331"/>
                </a:solidFill>
                <a:latin typeface="Courier New"/>
                <a:ea typeface="Courier New"/>
                <a:cs typeface="Courier New"/>
                <a:sym typeface="Courier New"/>
              </a:rPr>
              <a:t> 0  0  7  0     | 0 0 1 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1C2331"/>
                </a:solidFill>
                <a:latin typeface="Courier New"/>
                <a:ea typeface="Courier New"/>
                <a:cs typeface="Courier New"/>
                <a:sym typeface="Courier New"/>
              </a:rPr>
              <a:t> 0  0 11 12     | 0 0 1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1C2331"/>
                </a:solidFill>
                <a:latin typeface="Courier New"/>
                <a:ea typeface="Courier New"/>
                <a:cs typeface="Courier New"/>
                <a:sym typeface="Courier New"/>
              </a:rPr>
              <a:t> 0  0  0 16     | 0 0 0 1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B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5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C2331"/>
                </a:solidFill>
                <a:latin typeface="Calibri"/>
                <a:ea typeface="Calibri"/>
                <a:cs typeface="Calibri"/>
                <a:sym typeface="Calibri"/>
              </a:rPr>
              <a:t>Final result</a:t>
            </a:r>
            <a:endParaRPr/>
          </a:p>
        </p:txBody>
      </p:sp>
      <p:sp>
        <p:nvSpPr>
          <p:cNvPr id="198" name="Google Shape;198;p25"/>
          <p:cNvSpPr txBox="1"/>
          <p:nvPr/>
        </p:nvSpPr>
        <p:spPr>
          <a:xfrm>
            <a:off x="548650" y="1645925"/>
            <a:ext cx="6949500" cy="21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1C2331"/>
                </a:solidFill>
                <a:latin typeface="Calibri"/>
                <a:ea typeface="Calibri"/>
                <a:cs typeface="Calibri"/>
                <a:sym typeface="Calibri"/>
              </a:rPr>
              <a:t>HDMI threshold output works.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1C2331"/>
                </a:solidFill>
                <a:latin typeface="Calibri"/>
                <a:ea typeface="Calibri"/>
                <a:cs typeface="Calibri"/>
                <a:sym typeface="Calibri"/>
              </a:rPr>
              <a:t>RX lock = 1 and TX lock = 1.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1C2331"/>
                </a:solidFill>
                <a:latin typeface="Calibri"/>
                <a:ea typeface="Calibri"/>
                <a:cs typeface="Calibri"/>
                <a:sym typeface="Calibri"/>
              </a:rPr>
              <a:t>Motion count changes with scene changes.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1C2331"/>
                </a:solidFill>
                <a:latin typeface="Calibri"/>
                <a:ea typeface="Calibri"/>
                <a:cs typeface="Calibri"/>
                <a:sym typeface="Calibri"/>
              </a:rPr>
              <a:t>The 4×4 region report works through UART.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1C2331"/>
                </a:solidFill>
                <a:latin typeface="Calibri"/>
                <a:ea typeface="Calibri"/>
                <a:cs typeface="Calibri"/>
                <a:sym typeface="Calibri"/>
              </a:rPr>
              <a:t>The final system is a reliable motion-reporting demo on PYNQ-Z2.</a:t>
            </a:r>
            <a:endParaRPr/>
          </a:p>
        </p:txBody>
      </p:sp>
      <p:sp>
        <p:nvSpPr>
          <p:cNvPr id="199" name="Google Shape;199;p25"/>
          <p:cNvSpPr/>
          <p:nvPr/>
        </p:nvSpPr>
        <p:spPr>
          <a:xfrm>
            <a:off x="7772400" y="1737360"/>
            <a:ext cx="3291840" cy="33832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6EA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5"/>
          <p:cNvSpPr txBox="1"/>
          <p:nvPr/>
        </p:nvSpPr>
        <p:spPr>
          <a:xfrm>
            <a:off x="8046720" y="2240280"/>
            <a:ext cx="27432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  <a:t>Demo status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1D4E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1C2331"/>
                </a:solidFill>
                <a:latin typeface="Calibri"/>
                <a:ea typeface="Calibri"/>
                <a:cs typeface="Calibri"/>
                <a:sym typeface="Calibri"/>
              </a:rPr>
              <a:t>HDMI stable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1C2331"/>
                </a:solidFill>
                <a:latin typeface="Calibri"/>
                <a:ea typeface="Calibri"/>
                <a:cs typeface="Calibri"/>
                <a:sym typeface="Calibri"/>
              </a:rPr>
              <a:t>UART reporting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1C2331"/>
                </a:solidFill>
                <a:latin typeface="Calibri"/>
                <a:ea typeface="Calibri"/>
                <a:cs typeface="Calibri"/>
                <a:sym typeface="Calibri"/>
              </a:rPr>
              <a:t>4×4 regions working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B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6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C2331"/>
                </a:solidFill>
                <a:latin typeface="Calibri"/>
                <a:ea typeface="Calibri"/>
                <a:cs typeface="Calibri"/>
                <a:sym typeface="Calibri"/>
              </a:rPr>
              <a:t>Lessons learned</a:t>
            </a:r>
            <a:endParaRPr/>
          </a:p>
        </p:txBody>
      </p:sp>
      <p:sp>
        <p:nvSpPr>
          <p:cNvPr id="206" name="Google Shape;206;p26"/>
          <p:cNvSpPr txBox="1"/>
          <p:nvPr/>
        </p:nvSpPr>
        <p:spPr>
          <a:xfrm>
            <a:off x="803750" y="1645925"/>
            <a:ext cx="109185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925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1C2331"/>
              </a:buClr>
              <a:buSzPts val="1900"/>
              <a:buFont typeface="Calibri"/>
              <a:buChar char="●"/>
            </a:pPr>
            <a:r>
              <a:rPr lang="en-US" sz="1900">
                <a:solidFill>
                  <a:srgbClr val="1C2331"/>
                </a:solidFill>
                <a:latin typeface="Calibri"/>
                <a:ea typeface="Calibri"/>
                <a:cs typeface="Calibri"/>
                <a:sym typeface="Calibri"/>
              </a:rPr>
              <a:t>Algorithm correctness alone is not enough in FPGA video systems.</a:t>
            </a:r>
            <a:endParaRPr/>
          </a:p>
          <a:p>
            <a:pPr indent="-34925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1C2331"/>
              </a:buClr>
              <a:buSzPts val="1900"/>
              <a:buFont typeface="Calibri"/>
              <a:buChar char="●"/>
            </a:pPr>
            <a:r>
              <a:rPr lang="en-US" sz="1900">
                <a:solidFill>
                  <a:srgbClr val="1C2331"/>
                </a:solidFill>
                <a:latin typeface="Calibri"/>
                <a:ea typeface="Calibri"/>
                <a:cs typeface="Calibri"/>
                <a:sym typeface="Calibri"/>
              </a:rPr>
              <a:t>Live HDMI output paths are extremely sensitive to timing and synchronization.</a:t>
            </a:r>
            <a:endParaRPr/>
          </a:p>
          <a:p>
            <a:pPr indent="-34925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1C2331"/>
              </a:buClr>
              <a:buSzPts val="1900"/>
              <a:buFont typeface="Calibri"/>
              <a:buChar char="●"/>
            </a:pPr>
            <a:r>
              <a:rPr lang="en-US" sz="1900">
                <a:solidFill>
                  <a:srgbClr val="1C2331"/>
                </a:solidFill>
                <a:latin typeface="Calibri"/>
                <a:ea typeface="Calibri"/>
                <a:cs typeface="Calibri"/>
                <a:sym typeface="Calibri"/>
              </a:rPr>
              <a:t>Previous-frame logic is much easier to support in background analysis than in direct display output.</a:t>
            </a:r>
            <a:endParaRPr/>
          </a:p>
          <a:p>
            <a:pPr indent="-34925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1C2331"/>
              </a:buClr>
              <a:buSzPts val="1900"/>
              <a:buFont typeface="Calibri"/>
              <a:buChar char="●"/>
            </a:pPr>
            <a:r>
              <a:rPr lang="en-US" sz="1900">
                <a:solidFill>
                  <a:srgbClr val="1C2331"/>
                </a:solidFill>
                <a:latin typeface="Calibri"/>
                <a:ea typeface="Calibri"/>
                <a:cs typeface="Calibri"/>
                <a:sym typeface="Calibri"/>
              </a:rPr>
              <a:t>Architectural partitioning was the key to a stable final design.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B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7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C2331"/>
                </a:solidFill>
                <a:latin typeface="Calibri"/>
                <a:ea typeface="Calibri"/>
                <a:cs typeface="Calibri"/>
                <a:sym typeface="Calibri"/>
              </a:rPr>
              <a:t>Future work</a:t>
            </a:r>
            <a:endParaRPr/>
          </a:p>
        </p:txBody>
      </p:sp>
      <p:sp>
        <p:nvSpPr>
          <p:cNvPr id="212" name="Google Shape;212;p27"/>
          <p:cNvSpPr txBox="1"/>
          <p:nvPr/>
        </p:nvSpPr>
        <p:spPr>
          <a:xfrm>
            <a:off x="914400" y="1737360"/>
            <a:ext cx="9601200" cy="27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925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1C2331"/>
              </a:buClr>
              <a:buSzPts val="1900"/>
              <a:buFont typeface="Calibri"/>
              <a:buChar char="●"/>
            </a:pPr>
            <a:r>
              <a:rPr lang="en-US" sz="1900">
                <a:solidFill>
                  <a:srgbClr val="1C2331"/>
                </a:solidFill>
                <a:latin typeface="Calibri"/>
                <a:ea typeface="Calibri"/>
                <a:cs typeface="Calibri"/>
                <a:sym typeface="Calibri"/>
              </a:rPr>
              <a:t>Frame-buffer based motion-mask overlay using DDR / VDMA.</a:t>
            </a:r>
            <a:endParaRPr/>
          </a:p>
          <a:p>
            <a:pPr indent="-34925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1C2331"/>
              </a:buClr>
              <a:buSzPts val="1900"/>
              <a:buFont typeface="Calibri"/>
              <a:buChar char="●"/>
            </a:pPr>
            <a:r>
              <a:rPr lang="en-US" sz="1900">
                <a:solidFill>
                  <a:srgbClr val="1C2331"/>
                </a:solidFill>
                <a:latin typeface="Calibri"/>
                <a:ea typeface="Calibri"/>
                <a:cs typeface="Calibri"/>
                <a:sym typeface="Calibri"/>
              </a:rPr>
              <a:t>Region-wise motion thresholds and temporal smoothing.</a:t>
            </a:r>
            <a:endParaRPr/>
          </a:p>
          <a:p>
            <a:pPr indent="-34925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1C2331"/>
              </a:buClr>
              <a:buSzPts val="1900"/>
              <a:buFont typeface="Calibri"/>
              <a:buChar char="●"/>
            </a:pPr>
            <a:r>
              <a:rPr lang="en-US" sz="1900">
                <a:solidFill>
                  <a:srgbClr val="1C2331"/>
                </a:solidFill>
                <a:latin typeface="Calibri"/>
                <a:ea typeface="Calibri"/>
                <a:cs typeface="Calibri"/>
                <a:sym typeface="Calibri"/>
              </a:rPr>
              <a:t>Bounding boxes for moving regions.</a:t>
            </a:r>
            <a:endParaRPr/>
          </a:p>
          <a:p>
            <a:pPr indent="-34925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1C2331"/>
              </a:buClr>
              <a:buSzPts val="1900"/>
              <a:buFont typeface="Calibri"/>
              <a:buChar char="●"/>
            </a:pPr>
            <a:r>
              <a:rPr lang="en-US" sz="1900">
                <a:solidFill>
                  <a:srgbClr val="1C2331"/>
                </a:solidFill>
                <a:latin typeface="Calibri"/>
                <a:ea typeface="Calibri"/>
                <a:cs typeface="Calibri"/>
                <a:sym typeface="Calibri"/>
              </a:rPr>
              <a:t>Adaptive thresholding and more detailed spatial reporting.</a:t>
            </a:r>
            <a:endParaRPr/>
          </a:p>
          <a:p>
            <a:pPr indent="-34925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1C2331"/>
              </a:buClr>
              <a:buSzPts val="1900"/>
              <a:buFont typeface="Calibri"/>
              <a:buChar char="●"/>
            </a:pPr>
            <a:r>
              <a:rPr lang="en-US" sz="1900">
                <a:solidFill>
                  <a:srgbClr val="1C2331"/>
                </a:solidFill>
                <a:latin typeface="Calibri"/>
                <a:ea typeface="Calibri"/>
                <a:cs typeface="Calibri"/>
                <a:sym typeface="Calibri"/>
              </a:rPr>
              <a:t>Object-level tracking on top of the current pipeline.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